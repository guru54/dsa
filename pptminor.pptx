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16"/>
  </p:notesMasterIdLst>
  <p:sldIdLst>
    <p:sldId id="256" r:id="rId3"/>
    <p:sldId id="257" r:id="rId4"/>
    <p:sldId id="267" r:id="rId5"/>
    <p:sldId id="260" r:id="rId6"/>
    <p:sldId id="259" r:id="rId7"/>
    <p:sldId id="269" r:id="rId8"/>
    <p:sldId id="262" r:id="rId9"/>
    <p:sldId id="261" r:id="rId10"/>
    <p:sldId id="268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EBFA"/>
    <a:srgbClr val="FFEBD2"/>
    <a:srgbClr val="FFE1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12E3C8-4D32-40AE-9B55-981117638739}" type="datetimeFigureOut">
              <a:rPr lang="en-IN" smtClean="0"/>
              <a:t>26-12-2025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95764E-835F-4A27-9679-E9332CD281B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7080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95764E-835F-4A27-9679-E9332CD281B9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171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95764E-835F-4A27-9679-E9332CD281B9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6134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FB77F-31EC-4DFD-A4B6-8776B633AD9B}" type="datetime1">
              <a:rPr lang="en-IN" smtClean="0"/>
              <a:t>26-12-2025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Baderia Global Institute of Engineering and Management, Jabalpur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E2A1-E1B3-408C-BD2E-03FB3FB56DD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8990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B6C67-DA86-4F31-98A7-2F728C584718}" type="datetime1">
              <a:rPr lang="en-IN" smtClean="0"/>
              <a:t>26-12-2025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Baderia Global Institute of Engineering and Management, Jabalpur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E2A1-E1B3-408C-BD2E-03FB3FB56DD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189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FD08E-FC46-449E-8BA5-BE4C09629E03}" type="datetime1">
              <a:rPr lang="en-IN" smtClean="0"/>
              <a:t>26-12-2025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Baderia Global Institute of Engineering and Management, Jabalpur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E2A1-E1B3-408C-BD2E-03FB3FB56DD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6425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946E1-E39A-43D1-816C-4E74F406503D}" type="datetime1">
              <a:rPr lang="en-IN" smtClean="0"/>
              <a:t>26-12-2025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Baderia Global Institute of Engineering and Management, Jabalpur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E2A1-E1B3-408C-BD2E-03FB3FB56DD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2721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1488D-2C6E-4E5F-978E-C025B7F1ACF5}" type="datetime1">
              <a:rPr lang="en-IN" smtClean="0"/>
              <a:t>26-12-2025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Baderia Global Institute of Engineering and Management, Jabalpur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E2A1-E1B3-408C-BD2E-03FB3FB56DD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179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9073-349C-4A96-8360-CFF1798373DE}" type="datetime1">
              <a:rPr lang="en-IN" smtClean="0"/>
              <a:t>26-12-2025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Baderia Global Institute of Engineering and Management, Jabalpur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E2A1-E1B3-408C-BD2E-03FB3FB56DD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253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D5D8B-7406-4E3A-8E46-919BC0297F24}" type="datetime1">
              <a:rPr lang="en-IN" smtClean="0"/>
              <a:t>26-12-2025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Baderia Global Institute of Engineering and Management, Jabalpur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E2A1-E1B3-408C-BD2E-03FB3FB56DD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3811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AAB29-BDE6-4B2C-A8C9-6312498192A2}" type="datetime1">
              <a:rPr lang="en-IN" smtClean="0"/>
              <a:t>26-12-2025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Baderia Global Institute of Engineering and Management, Jabalpur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E2A1-E1B3-408C-BD2E-03FB3FB56DD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7063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B4E0C-F230-4CAE-9C54-5B9B674CF88E}" type="datetime1">
              <a:rPr lang="en-IN" smtClean="0"/>
              <a:t>26-12-2025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Baderia Global Institute of Engineering and Management, Jabalpur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E2A1-E1B3-408C-BD2E-03FB3FB56DD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4753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3872E-FC16-4D13-B349-7DF8BD1A29AE}" type="datetime1">
              <a:rPr lang="en-IN" smtClean="0"/>
              <a:t>26-12-2025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Baderia Global Institute of Engineering and Management, Jabalpur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E2A1-E1B3-408C-BD2E-03FB3FB56DD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0327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407E0-36F7-4FCD-ACC2-10906C9C70C4}" type="datetime1">
              <a:rPr lang="en-IN" smtClean="0"/>
              <a:t>26-12-2025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Baderia Global Institute of Engineering and Management, Jabalpur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E2A1-E1B3-408C-BD2E-03FB3FB56DD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23042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E0A2A-BB74-43AC-B5AF-DD65C18EC8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EC5D06-AEEB-4C9E-974A-1F674DCD01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A9E88-628A-4446-8E7B-A3E71C0EE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178D3-0DE0-4B8D-96AD-1AE31903A769}" type="datetimeFigureOut">
              <a:rPr lang="en-US" smtClean="0"/>
              <a:t>12/26/2025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74F82-D4D2-475A-8182-7DC6A3E30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10860-07FD-4AC7-8720-DCCEEC351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45AB9-BF1D-48DC-9DD8-2B497FA86E9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3456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636E9-CE2A-4048-8840-01E1390E9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08243-1C89-49D1-8178-B86EE8B83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96209-0A4E-4A16-A0D4-501D262CB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178D3-0DE0-4B8D-96AD-1AE31903A769}" type="datetimeFigureOut">
              <a:rPr lang="en-US" smtClean="0"/>
              <a:t>12/26/2025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9C4D65-2C33-4A80-9E19-218A07809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28488-53F0-40FF-B25C-49B9BB905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45AB9-BF1D-48DC-9DD8-2B497FA86E9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528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79C0C-970D-4DB0-B080-50F6B9E1B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4A0250-1CE2-4ED4-93C7-0B0A9571F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8EFD4-64D1-4080-95F4-3365B9FC7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178D3-0DE0-4B8D-96AD-1AE31903A769}" type="datetimeFigureOut">
              <a:rPr lang="en-US" smtClean="0"/>
              <a:t>12/26/2025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988CF-AA82-4089-B51E-AF73AEC4B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D84F0-1A2B-4D4F-9993-0802A5FCC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45AB9-BF1D-48DC-9DD8-2B497FA86E9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9776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F67AC-A2BD-4FFA-9390-C515CBFC2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2EBCA-97B6-4D99-8778-0A27AC60A9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2AD763-C303-42CE-87B4-BB3EAA4900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C9D5E-E854-4C51-AE5D-73ACF0033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178D3-0DE0-4B8D-96AD-1AE31903A769}" type="datetimeFigureOut">
              <a:rPr lang="en-US" smtClean="0"/>
              <a:t>12/26/2025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935BDB-D1A5-4D28-AFB2-CFAEB1E1C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A253A3-4571-4EA9-816B-CD1405A1B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45AB9-BF1D-48DC-9DD8-2B497FA86E9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0362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55AB3-7AB3-4D10-8741-E58C9CF28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455B13-258A-4442-A401-18398BDE3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D1A4B2-4222-42FD-8EE8-7EA30A94C9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7ECCD4-3C20-41FC-A23F-1A91CE6D22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D11EB8-311A-4A41-8047-F2274CFBD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9C3F2E-BA65-4503-8AD6-2C618E52F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178D3-0DE0-4B8D-96AD-1AE31903A769}" type="datetimeFigureOut">
              <a:rPr lang="en-US" smtClean="0"/>
              <a:t>12/26/2025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D25F74-7871-4529-944D-205C528A7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F65832-670C-4380-9F10-0400E211C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45AB9-BF1D-48DC-9DD8-2B497FA86E9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0962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6DF10-0223-4059-B172-93BF1B0B9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87758E-920B-4521-A982-6BC591780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178D3-0DE0-4B8D-96AD-1AE31903A769}" type="datetimeFigureOut">
              <a:rPr lang="en-US" smtClean="0"/>
              <a:t>12/26/2025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D85F72-51AD-434D-BA78-B68E2CF93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916BAA-F6A6-4D1C-8417-96B8B902A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45AB9-BF1D-48DC-9DD8-2B497FA86E9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3340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4FB74A-D725-4C17-9251-0D08CE472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178D3-0DE0-4B8D-96AD-1AE31903A769}" type="datetimeFigureOut">
              <a:rPr lang="en-US" smtClean="0"/>
              <a:t>12/26/2025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6A6A7-33E0-4DAF-BBB8-7C5AB9DCF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630682-BC2C-465E-B3F7-2749425BD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45AB9-BF1D-48DC-9DD8-2B497FA86E9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5554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CEEFA-4C28-48C1-B91A-D01066D6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19E25-A3EE-4BBA-A89B-A8836A573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540616-FF0D-4586-ABD7-C6BB437B8C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CD2FC7-69A6-4681-8BEC-73FA6B7CA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178D3-0DE0-4B8D-96AD-1AE31903A769}" type="datetimeFigureOut">
              <a:rPr lang="en-US" smtClean="0"/>
              <a:t>12/26/2025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586C04-09CE-46CA-8838-12977C78E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212142-648A-4DBD-8F68-28010A5F4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45AB9-BF1D-48DC-9DD8-2B497FA86E9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8729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357F4-E6C8-4199-B962-A00AAB6C7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06131E-0E43-4D8E-832C-2C136BD463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B6AA1B-20D9-4615-96F8-817C0B2E39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58EA9C-90A5-44A1-8399-B8DD7230C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178D3-0DE0-4B8D-96AD-1AE31903A769}" type="datetimeFigureOut">
              <a:rPr lang="en-US" smtClean="0"/>
              <a:t>12/26/2025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B8FB25-B073-4A87-A0AD-94FFE76C0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D4608E-5B09-4CB3-9526-ECAE80B15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45AB9-BF1D-48DC-9DD8-2B497FA86E9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4027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7F23E-74A2-451A-8161-098CB1965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2DAB8C-4B72-411A-8F3A-DF2929D6C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CFEF7-5A72-4800-8297-CBC190007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178D3-0DE0-4B8D-96AD-1AE31903A769}" type="datetimeFigureOut">
              <a:rPr lang="en-US" smtClean="0"/>
              <a:t>12/26/2025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711AD-2A8C-4C05-8EFD-320FC9160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A8EB9-2DAC-478A-857B-F015049F2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45AB9-BF1D-48DC-9DD8-2B497FA86E9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3363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C9312F-B5F9-4B9D-BDF5-A1E81507EA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907F9A-212B-4BE2-8975-C35DA07225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D5127-369E-44A0-B377-D9FB833F5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178D3-0DE0-4B8D-96AD-1AE31903A769}" type="datetimeFigureOut">
              <a:rPr lang="en-US" smtClean="0"/>
              <a:t>12/26/2025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BCBB2-28BA-423F-81D2-3E3A762AD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CF273-D04E-434D-9B71-A60C00093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45AB9-BF1D-48DC-9DD8-2B497FA86E9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96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BC3E30-D5D4-4543-B919-820BC78B7767}" type="datetime1">
              <a:rPr lang="en-IN" smtClean="0"/>
              <a:t>26-12-2025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Baderia Global Institute of Engineering and Management, Jabalpur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3FE2A1-E1B3-408C-BD2E-03FB3FB56DD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6965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BF77D1-A507-4754-BBEE-A0A150B65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3262FA-417F-4A77-AA03-7384719F2A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C2839-52FD-404A-8BC5-D4B034E056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178D3-0DE0-4B8D-96AD-1AE31903A769}" type="datetimeFigureOut">
              <a:rPr lang="en-US" smtClean="0"/>
              <a:t>12/26/2025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5F088-13D0-4531-BF4D-D159F66B46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C2A0B-615A-4A5C-89F5-F6A1C6DD26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B45AB9-BF1D-48DC-9DD8-2B497FA86E9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932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6776" y="374573"/>
            <a:ext cx="111711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BADERIA GLOBAL INSTITUTE OF ENGINEERING  &amp; MANAGEMENT, JABALPUR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1155" y="3475711"/>
            <a:ext cx="851603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Course Code: </a:t>
            </a:r>
            <a:r>
              <a:rPr lang="en-IN" sz="2000" dirty="0"/>
              <a:t>CS508</a:t>
            </a:r>
            <a:r>
              <a:rPr lang="en-IN" sz="2000" b="1" dirty="0"/>
              <a:t>			Course Name: </a:t>
            </a:r>
            <a:r>
              <a:rPr lang="en-IN" sz="2000" dirty="0"/>
              <a:t>Minor Project - I</a:t>
            </a:r>
          </a:p>
          <a:p>
            <a:pPr algn="ctr"/>
            <a:r>
              <a:rPr lang="en-IN" sz="2000" b="1" dirty="0"/>
              <a:t>Presentation on</a:t>
            </a:r>
          </a:p>
          <a:p>
            <a:pPr algn="ctr"/>
            <a:r>
              <a:rPr lang="en-IN" sz="2400" b="1" dirty="0">
                <a:solidFill>
                  <a:schemeClr val="tx2"/>
                </a:solidFill>
              </a:rPr>
              <a:t>EDUTRACK </a:t>
            </a:r>
          </a:p>
          <a:p>
            <a:pPr algn="ctr"/>
            <a:r>
              <a:rPr lang="en-IN" sz="2400" dirty="0">
                <a:solidFill>
                  <a:schemeClr val="tx2"/>
                </a:solidFill>
              </a:rPr>
              <a:t>Project Allocation &amp; Tracking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87167" y="4922261"/>
            <a:ext cx="48033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ENROLLMENT NUMBER &amp; NAME  </a:t>
            </a:r>
          </a:p>
          <a:p>
            <a:pPr algn="ctr"/>
            <a:r>
              <a:rPr lang="en-IN" dirty="0"/>
              <a:t>0246CS231088 – Gurudas Bhardwaj</a:t>
            </a:r>
          </a:p>
          <a:p>
            <a:pPr algn="ctr"/>
            <a:endParaRPr lang="en-IN" b="1" dirty="0"/>
          </a:p>
        </p:txBody>
      </p:sp>
      <p:pic>
        <p:nvPicPr>
          <p:cNvPr id="1026" name="Picture 2" descr="Global Group of Institu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2977" y="1388353"/>
            <a:ext cx="1232397" cy="1232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319049" y="2694288"/>
            <a:ext cx="75465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Semester: V</a:t>
            </a:r>
          </a:p>
          <a:p>
            <a:pPr algn="ctr"/>
            <a:r>
              <a:rPr lang="en-IN" sz="2000" b="1" dirty="0"/>
              <a:t>Branch: </a:t>
            </a:r>
            <a:r>
              <a:rPr lang="en-IN" sz="2000" dirty="0"/>
              <a:t>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2097946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Problem Statement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Literature Survey / Existing Systems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Project Objectives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Proposed Solution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6"/>
            </a:pPr>
            <a:r>
              <a:rPr lang="en-IN" dirty="0"/>
              <a:t>Technology Stack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IN" dirty="0"/>
              <a:t>Feasibility Study</a:t>
            </a:r>
          </a:p>
          <a:p>
            <a:pPr marL="514350" indent="-514350">
              <a:buFont typeface="+mj-lt"/>
              <a:buAutoNum type="arabicPeriod" startAt="8"/>
            </a:pPr>
            <a:r>
              <a:rPr lang="en-IN" dirty="0"/>
              <a:t>Tentative Timeline (Gantt Chart)</a:t>
            </a:r>
          </a:p>
          <a:p>
            <a:pPr marL="514350" indent="-514350">
              <a:buFont typeface="+mj-lt"/>
              <a:buAutoNum type="arabicPeriod" startAt="8"/>
            </a:pPr>
            <a:r>
              <a:rPr lang="en-IN" dirty="0"/>
              <a:t>Expected Outcomes</a:t>
            </a:r>
          </a:p>
          <a:p>
            <a:pPr marL="514350" indent="-514350">
              <a:buFont typeface="+mj-lt"/>
              <a:buAutoNum type="arabicPeriod" startAt="8"/>
            </a:pPr>
            <a:r>
              <a:rPr lang="en-IN" dirty="0"/>
              <a:t>References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28471" y="6356350"/>
            <a:ext cx="5535058" cy="365125"/>
          </a:xfrm>
        </p:spPr>
        <p:txBody>
          <a:bodyPr/>
          <a:lstStyle/>
          <a:p>
            <a:r>
              <a:rPr lang="en-US" dirty="0"/>
              <a:t>Baderia Global Institute of Engineering and Management, Jabalpur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E2A1-E1B3-408C-BD2E-03FB3FB56DDC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811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685FB6-2C03-4B5F-931B-DA00E170B1F9}"/>
              </a:ext>
            </a:extLst>
          </p:cNvPr>
          <p:cNvSpPr txBox="1"/>
          <p:nvPr/>
        </p:nvSpPr>
        <p:spPr>
          <a:xfrm>
            <a:off x="635000" y="254000"/>
            <a:ext cx="10922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0D49DC-9B47-4DC0-95F3-2DEF6AFA8323}"/>
              </a:ext>
            </a:extLst>
          </p:cNvPr>
          <p:cNvSpPr txBox="1"/>
          <p:nvPr/>
        </p:nvSpPr>
        <p:spPr>
          <a:xfrm>
            <a:off x="635000" y="892085"/>
            <a:ext cx="10922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Current Challenges in Academic Project Management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6A805DE-E74F-4AB4-94E8-50028796553C}"/>
              </a:ext>
            </a:extLst>
          </p:cNvPr>
          <p:cNvSpPr/>
          <p:nvPr/>
        </p:nvSpPr>
        <p:spPr>
          <a:xfrm>
            <a:off x="508000" y="1524000"/>
            <a:ext cx="5334000" cy="1905000"/>
          </a:xfrm>
          <a:prstGeom prst="roundRect">
            <a:avLst/>
          </a:prstGeom>
          <a:solidFill>
            <a:srgbClr val="DCEBF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Informal &amp; Manual Processes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Classroom announcements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Spreadsheet-based tracking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Communication via WhatsApp/Email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25–30 admin hours/semester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35B87B3-92F3-4ACA-B733-16E0E296DE24}"/>
              </a:ext>
            </a:extLst>
          </p:cNvPr>
          <p:cNvSpPr/>
          <p:nvPr/>
        </p:nvSpPr>
        <p:spPr>
          <a:xfrm>
            <a:off x="6350000" y="1524000"/>
            <a:ext cx="5334000" cy="1905000"/>
          </a:xfrm>
          <a:prstGeom prst="roundRect">
            <a:avLst/>
          </a:prstGeom>
          <a:solidFill>
            <a:srgbClr val="FFEBD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Repeated Topics &amp; Poor Coordination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Students work in isolation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Same topics repeated every year (E- commerce,  Library management , </a:t>
            </a: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etc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Accreditation data difficult to compile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352DC6C-273A-4341-856C-2A84A41B471C}"/>
              </a:ext>
            </a:extLst>
          </p:cNvPr>
          <p:cNvSpPr/>
          <p:nvPr/>
        </p:nvSpPr>
        <p:spPr>
          <a:xfrm>
            <a:off x="508000" y="3683000"/>
            <a:ext cx="5334000" cy="1905000"/>
          </a:xfrm>
          <a:prstGeom prst="roundRect">
            <a:avLst/>
          </a:prstGeom>
          <a:solidFill>
            <a:srgbClr val="EBE1F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lang="en-US" b="1" dirty="0">
                <a:solidFill>
                  <a:prstClr val="black"/>
                </a:solidFill>
                <a:latin typeface="Calibri" panose="020F0502020204030204"/>
              </a:rPr>
              <a:t>Guide Selection &amp; Workload Challenges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15–20 students per guide (some faculty)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Others handle only 3–5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No workload transparency during selection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Faculty overload or underutilization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19D4EED-3342-4CEC-96C7-057756731C3D}"/>
              </a:ext>
            </a:extLst>
          </p:cNvPr>
          <p:cNvSpPr/>
          <p:nvPr/>
        </p:nvSpPr>
        <p:spPr>
          <a:xfrm>
            <a:off x="6350000" y="3683000"/>
            <a:ext cx="5334000" cy="1905000"/>
          </a:xfrm>
          <a:prstGeom prst="roundRect">
            <a:avLst/>
          </a:prstGeom>
          <a:solidFill>
            <a:srgbClr val="FFE1E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Lack of Transparency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Approval status unclear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No milestone tracking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Faculty monitoring difficult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Evaluation confusion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96709D-9150-436F-80D8-E7E27A2AB6C7}"/>
              </a:ext>
            </a:extLst>
          </p:cNvPr>
          <p:cNvSpPr/>
          <p:nvPr/>
        </p:nvSpPr>
        <p:spPr>
          <a:xfrm>
            <a:off x="0" y="5842000"/>
            <a:ext cx="12192000" cy="762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Delayed approvals • Duplicate efforts • Unfair guide allocation • Poor academic supervision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329261-96B9-4EF1-B488-A39EDE3E134A}"/>
              </a:ext>
            </a:extLst>
          </p:cNvPr>
          <p:cNvSpPr txBox="1"/>
          <p:nvPr/>
        </p:nvSpPr>
        <p:spPr>
          <a:xfrm>
            <a:off x="6604000" y="6667500"/>
            <a:ext cx="533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Baderia Global Institute of Engineering and Management, Jabalpur</a:t>
            </a:r>
          </a:p>
        </p:txBody>
      </p:sp>
    </p:spTree>
    <p:extLst>
      <p:ext uri="{BB962C8B-B14F-4D97-AF65-F5344CB8AC3E}">
        <p14:creationId xmlns:p14="http://schemas.microsoft.com/office/powerpoint/2010/main" val="2475134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97328-3083-03D1-B83E-4B6FD314A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136525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+mn-lt"/>
              </a:rPr>
              <a:t>Primary Goal : </a:t>
            </a:r>
            <a:r>
              <a:rPr lang="en-US" sz="2000" b="1" dirty="0"/>
              <a:t>Deliver a campus-centric, role-based web application that digitizes allocation and end-to-end progress tracking of Minor/Major projects within the department</a:t>
            </a:r>
            <a:r>
              <a:rPr lang="en-US" sz="2800" b="1" dirty="0"/>
              <a:t>.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AEDD4-2AC8-9522-D3A2-E35908ADAA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385" y="1674415"/>
            <a:ext cx="5181600" cy="4351338"/>
          </a:xfrm>
          <a:prstGeom prst="roundRect">
            <a:avLst/>
          </a:prstGeom>
          <a:solidFill>
            <a:srgbClr val="FFEBD2"/>
          </a:solidFill>
        </p:spPr>
        <p:txBody>
          <a:bodyPr>
            <a:normAutofit fontScale="25000" lnSpcReduction="20000"/>
          </a:bodyPr>
          <a:lstStyle/>
          <a:p>
            <a:pPr algn="l">
              <a:buFont typeface="Wingdings" panose="05000000000000000000" pitchFamily="2" charset="2"/>
              <a:buChar char="v"/>
            </a:pPr>
            <a:r>
              <a:rPr lang="en-US" sz="6400" b="1" i="0" dirty="0">
                <a:effectLst/>
                <a:latin typeface="-apple-system"/>
              </a:rPr>
              <a:t>Specific Objectives</a:t>
            </a:r>
          </a:p>
          <a:p>
            <a:r>
              <a:rPr lang="en-US" sz="5600" dirty="0"/>
              <a:t> Centralized proposal submission with unique-topic checks (basic duplicate detection via keyword matching).</a:t>
            </a:r>
          </a:p>
          <a:p>
            <a:r>
              <a:rPr lang="en-US" sz="5600" dirty="0"/>
              <a:t> Guide selection with workload visibility: Students choose guides based on real-time capacity data; faculty approve/reject proposals.</a:t>
            </a:r>
          </a:p>
          <a:p>
            <a:r>
              <a:rPr lang="en-US" sz="5600" dirty="0"/>
              <a:t> Milestone-based tracking: deadlines, statuses, evidence uploads (PDF/DOCX).</a:t>
            </a:r>
          </a:p>
          <a:p>
            <a:r>
              <a:rPr lang="en-US" sz="5600" dirty="0"/>
              <a:t> Role-based portals with RBAC: Student, Faculty Guide, Administrator.</a:t>
            </a:r>
          </a:p>
          <a:p>
            <a:r>
              <a:rPr lang="en-US" sz="5600" dirty="0"/>
              <a:t>Structured feedback and evaluation workflow (rubric-based forms).</a:t>
            </a:r>
          </a:p>
          <a:p>
            <a:r>
              <a:rPr lang="en-US" sz="5600" dirty="0"/>
              <a:t> Dashboards: guide workload, delayed groups, completion %,  topic duplication alerts.</a:t>
            </a:r>
          </a:p>
          <a:p>
            <a:r>
              <a:rPr lang="en-US" sz="5600" dirty="0"/>
              <a:t> Notifications and reminders (in-app + email).</a:t>
            </a:r>
          </a:p>
          <a:p>
            <a:r>
              <a:rPr lang="en-US" sz="5600" dirty="0"/>
              <a:t>Secure authentication (JWT) and password hashing; file type/size  validation.</a:t>
            </a:r>
          </a:p>
          <a:p>
            <a:r>
              <a:rPr lang="en-US" sz="5600" dirty="0"/>
              <a:t> Reports/exports (CSV/PDF) for allocations and progress.</a:t>
            </a:r>
          </a:p>
          <a:p>
            <a:r>
              <a:rPr lang="en-US" sz="5600" dirty="0"/>
              <a:t> Audit trail for proposal decisions and milestone changes.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723395-5D85-4F71-AC4F-5D15D24A5D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508" y="1674415"/>
            <a:ext cx="5181600" cy="4351338"/>
          </a:xfrm>
          <a:prstGeom prst="roundRect">
            <a:avLst/>
          </a:prstGeom>
          <a:solidFill>
            <a:srgbClr val="DCEBFA"/>
          </a:solidFill>
        </p:spPr>
        <p:txBody>
          <a:bodyPr>
            <a:normAutofit fontScale="25000" lnSpcReduction="20000"/>
          </a:bodyPr>
          <a:lstStyle/>
          <a:p>
            <a:pPr algn="l">
              <a:buFont typeface="Wingdings" panose="05000000000000000000" pitchFamily="2" charset="2"/>
              <a:buChar char="v"/>
            </a:pPr>
            <a:r>
              <a:rPr lang="en-US" sz="5600" b="1" i="0" dirty="0">
                <a:effectLst/>
              </a:rPr>
              <a:t>Scope Boundary (Not in this phase)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5600" b="0" i="0" dirty="0">
                <a:effectLst/>
                <a:latin typeface="-apple-system"/>
              </a:rPr>
              <a:t>No native mobile apps (Android/iOS) — responsive web only.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5600" b="0" i="0" dirty="0">
                <a:effectLst/>
                <a:latin typeface="-apple-system"/>
              </a:rPr>
              <a:t>No integration with LMS (Moodle/Google Classroom) or university grading systems.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5600" b="0" i="0" dirty="0">
                <a:effectLst/>
                <a:latin typeface="-apple-system"/>
              </a:rPr>
              <a:t>No plagiarism scanning services (e.g., Turnitin/Copyscape).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5600" b="0" i="0" dirty="0">
                <a:effectLst/>
                <a:latin typeface="-apple-system"/>
              </a:rPr>
              <a:t>No video conferencing/scheduling module.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5600" b="0" i="0" dirty="0">
                <a:effectLst/>
                <a:latin typeface="-apple-system"/>
              </a:rPr>
              <a:t>No advanced AI/ML for topic similarity (only basic keyword checks).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5600" b="0" i="0" dirty="0">
                <a:effectLst/>
                <a:latin typeface="-apple-system"/>
              </a:rPr>
              <a:t>No blockchain certificates or industry mentor portal.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5600" b="0" i="0" dirty="0">
                <a:effectLst/>
                <a:latin typeface="-apple-system"/>
              </a:rPr>
              <a:t>No multi-language UI — English only.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5600" b="0" i="0" dirty="0">
                <a:effectLst/>
                <a:latin typeface="-apple-system"/>
              </a:rPr>
              <a:t>No SSO/identity federation; standard email/password auth.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5600" b="0" i="0" dirty="0">
                <a:effectLst/>
                <a:latin typeface="-apple-system"/>
              </a:rPr>
              <a:t>Deployment limited to departmental/institutional server; public cloud hardening out of scope.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521434-2ABE-2552-4FC3-6443FA56A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Baderia Global Institute of Engineering and Management, Jabalpur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C41382-055D-327A-9505-72E74178B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E2A1-E1B3-408C-BD2E-03FB3FB56DDC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1408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051D0-EF22-7D60-F2BD-EEA7B511C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854"/>
            <a:ext cx="10515600" cy="1325563"/>
          </a:xfrm>
        </p:spPr>
        <p:txBody>
          <a:bodyPr/>
          <a:lstStyle/>
          <a:p>
            <a:r>
              <a:rPr lang="en-IN" b="1" dirty="0"/>
              <a:t>Literature Survey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9791C-2E4F-E3E3-6AC0-CA5F9D95B6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3892" y="1803159"/>
            <a:ext cx="3653693" cy="4409830"/>
          </a:xfrm>
          <a:solidFill>
            <a:srgbClr val="FFE1E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b="1" dirty="0"/>
              <a:t>Current Solutions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400" b="1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100" b="1" dirty="0"/>
              <a:t>Manual Systems</a:t>
            </a:r>
            <a:endParaRPr lang="en-US" sz="21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900" dirty="0"/>
              <a:t>Spreadsheets, emails, paper records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900" dirty="0"/>
              <a:t>Time-consuming &amp; error-prone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sz="19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100" b="1" dirty="0"/>
              <a:t>Learning Management Systems 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100" dirty="0"/>
              <a:t>Moodle, Canvas, Google Classroom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100" dirty="0"/>
              <a:t>Course-oriented, not project lifecycle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sz="21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100" b="1" dirty="0"/>
              <a:t>Generic Project Tools</a:t>
            </a:r>
            <a:endParaRPr lang="en-US" sz="21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100" dirty="0"/>
              <a:t>Trello, Jira, Asana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100" dirty="0"/>
              <a:t>Designed for industry, not academics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A5DF04-AC09-4822-8C6B-E7B5CD4B67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08938" y="1803159"/>
            <a:ext cx="3729893" cy="4351338"/>
          </a:xfrm>
          <a:solidFill>
            <a:srgbClr val="DCEBFA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b="1" dirty="0"/>
              <a:t>THE GAP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100" dirty="0"/>
              <a:t>Too expensive (per-user licensing)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21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100" dirty="0"/>
              <a:t>Generic design, not academic-centric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21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100" dirty="0"/>
              <a:t>Complex setup &amp; maintenance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21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100" dirty="0"/>
              <a:t>Lack of Group-Centric Management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21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100" dirty="0"/>
              <a:t>No duplicate topic detection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21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100" dirty="0"/>
              <a:t>No clear role separation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DE3BAB-0B3F-4FB6-3836-916BB7AED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Baderia Global Institute of Engineering and Management, Jabalpur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9D9483-4AE8-6C88-9591-7E09588CC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E2A1-E1B3-408C-BD2E-03FB3FB56DDC}" type="slidenum">
              <a:rPr lang="en-IN" smtClean="0"/>
              <a:t>5</a:t>
            </a:fld>
            <a:endParaRPr lang="en-IN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14389100-B577-4800-8F0F-E29CF7EF16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6969" y="1803159"/>
            <a:ext cx="3790461" cy="4524315"/>
          </a:xfrm>
          <a:prstGeom prst="rect">
            <a:avLst/>
          </a:prstGeom>
          <a:solidFill>
            <a:srgbClr val="FFEBD2"/>
          </a:solidFill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EDUTRACK’S COMPETATIVE EDGE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Campus-centric academic workflow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Zero licensing (open-source MERN)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Simple &amp; intuitive UI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dirty="0">
                <a:solidFill>
                  <a:schemeClr val="tx1"/>
                </a:solidFill>
              </a:rPr>
              <a:t>Guide selection with workload visiablity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Duplicate topic detection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Role-based access (Admin / Faculty / Student)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Milestone-based tracking</a:t>
            </a:r>
          </a:p>
        </p:txBody>
      </p:sp>
    </p:spTree>
    <p:extLst>
      <p:ext uri="{BB962C8B-B14F-4D97-AF65-F5344CB8AC3E}">
        <p14:creationId xmlns:p14="http://schemas.microsoft.com/office/powerpoint/2010/main" val="3167970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579EF-B4D6-4116-A32B-820CB75DC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Baderia Global Institute of Engineering and Management, Jabalpur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511E8-CC4E-435E-B619-3B84C26FE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E2A1-E1B3-408C-BD2E-03FB3FB56DDC}" type="slidenum">
              <a:rPr lang="en-IN" smtClean="0"/>
              <a:t>6</a:t>
            </a:fld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CDEA7E7-F46B-4926-B416-98C711F2FD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-44939"/>
            <a:ext cx="10287000" cy="6947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213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92F49-D554-FAE4-EF9B-2DBF82FE8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00" y="2333746"/>
            <a:ext cx="5625123" cy="1440229"/>
          </a:xfrm>
        </p:spPr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latin typeface="+mn-lt"/>
              </a:rPr>
              <a:t>TECHNOLOGY STACK</a:t>
            </a:r>
            <a:br>
              <a:rPr lang="en-IN" sz="2000" dirty="0">
                <a:latin typeface="+mn-lt"/>
              </a:rPr>
            </a:br>
            <a:br>
              <a:rPr lang="en-IN" sz="2000" dirty="0">
                <a:latin typeface="+mn-lt"/>
              </a:rPr>
            </a:br>
            <a:r>
              <a:rPr lang="en-IN" sz="2000" dirty="0">
                <a:latin typeface="+mn-lt"/>
              </a:rPr>
              <a:t>• </a:t>
            </a:r>
            <a:r>
              <a:rPr lang="en-IN" sz="2000" b="1" dirty="0">
                <a:latin typeface="+mn-lt"/>
              </a:rPr>
              <a:t>Frontend</a:t>
            </a:r>
            <a:r>
              <a:rPr lang="en-IN" sz="2000" dirty="0">
                <a:latin typeface="+mn-lt"/>
              </a:rPr>
              <a:t>: React.js (v18), Tailwind CSS, React Router, Axios, </a:t>
            </a:r>
            <a:br>
              <a:rPr lang="en-IN" sz="2000" dirty="0">
                <a:latin typeface="+mn-lt"/>
              </a:rPr>
            </a:br>
            <a:r>
              <a:rPr lang="en-IN" sz="2000" dirty="0">
                <a:latin typeface="+mn-lt"/>
              </a:rPr>
              <a:t>  React Hook Form, Recharts (data visualization)</a:t>
            </a:r>
            <a:br>
              <a:rPr lang="en-IN" sz="2000" dirty="0">
                <a:latin typeface="+mn-lt"/>
              </a:rPr>
            </a:br>
            <a:br>
              <a:rPr lang="en-IN" sz="2000" dirty="0">
                <a:latin typeface="+mn-lt"/>
              </a:rPr>
            </a:br>
            <a:r>
              <a:rPr lang="en-IN" sz="2000" dirty="0">
                <a:latin typeface="+mn-lt"/>
              </a:rPr>
              <a:t>•</a:t>
            </a:r>
            <a:r>
              <a:rPr lang="en-IN" sz="2000" b="1" dirty="0">
                <a:latin typeface="+mn-lt"/>
              </a:rPr>
              <a:t> Backend</a:t>
            </a:r>
            <a:r>
              <a:rPr lang="en-IN" sz="2000" dirty="0">
                <a:latin typeface="+mn-lt"/>
              </a:rPr>
              <a:t>: Node.js (v20), Express.js, JWT (authentication), bcryptjs (password hashing), Multer (file uploads), Nodemailer (email service)</a:t>
            </a:r>
            <a:br>
              <a:rPr lang="en-IN" sz="2000" dirty="0">
                <a:latin typeface="+mn-lt"/>
              </a:rPr>
            </a:br>
            <a:br>
              <a:rPr lang="en-IN" sz="2000" dirty="0">
                <a:latin typeface="+mn-lt"/>
              </a:rPr>
            </a:br>
            <a:r>
              <a:rPr lang="en-IN" sz="2000" dirty="0">
                <a:latin typeface="+mn-lt"/>
              </a:rPr>
              <a:t>• </a:t>
            </a:r>
            <a:r>
              <a:rPr lang="en-IN" sz="2000" b="1" dirty="0">
                <a:latin typeface="+mn-lt"/>
              </a:rPr>
              <a:t>Database</a:t>
            </a:r>
            <a:r>
              <a:rPr lang="en-IN" sz="2000" dirty="0">
                <a:latin typeface="+mn-lt"/>
              </a:rPr>
              <a:t>: MongoDB (v7), Mongoose ODM, MongoDB Atlas (cloud hosting)</a:t>
            </a:r>
            <a:br>
              <a:rPr lang="en-IN" sz="2000" dirty="0">
                <a:latin typeface="+mn-lt"/>
              </a:rPr>
            </a:br>
            <a:br>
              <a:rPr lang="en-IN" sz="2000" dirty="0">
                <a:latin typeface="+mn-lt"/>
              </a:rPr>
            </a:br>
            <a:r>
              <a:rPr lang="en-IN" sz="2000" dirty="0">
                <a:latin typeface="+mn-lt"/>
              </a:rPr>
              <a:t>• </a:t>
            </a:r>
            <a:r>
              <a:rPr lang="en-IN" sz="2000" b="1" dirty="0">
                <a:latin typeface="+mn-lt"/>
              </a:rPr>
              <a:t>Deployment: </a:t>
            </a:r>
            <a:br>
              <a:rPr lang="en-IN" sz="2000" dirty="0">
                <a:latin typeface="+mn-lt"/>
              </a:rPr>
            </a:br>
            <a:r>
              <a:rPr lang="en-IN" sz="2000" dirty="0">
                <a:latin typeface="+mn-lt"/>
              </a:rPr>
              <a:t>  - Frontend: Vercel/Netlify (free hosting)</a:t>
            </a:r>
            <a:br>
              <a:rPr lang="en-IN" sz="2000" dirty="0">
                <a:latin typeface="+mn-lt"/>
              </a:rPr>
            </a:br>
            <a:r>
              <a:rPr lang="en-IN" sz="2000" dirty="0">
                <a:latin typeface="+mn-lt"/>
              </a:rPr>
              <a:t>  - Backend: Render/Railway (free tier)</a:t>
            </a:r>
            <a:br>
              <a:rPr lang="en-IN" sz="2000" dirty="0">
                <a:latin typeface="+mn-lt"/>
              </a:rPr>
            </a:br>
            <a:r>
              <a:rPr lang="en-IN" sz="2000" dirty="0">
                <a:latin typeface="+mn-lt"/>
              </a:rPr>
              <a:t>  - Database: MongoDB Atlas (512MB free)</a:t>
            </a:r>
            <a:br>
              <a:rPr lang="en-IN" sz="2000" dirty="0">
                <a:latin typeface="+mn-lt"/>
              </a:rPr>
            </a:br>
            <a:endParaRPr lang="en-IN" sz="2000" dirty="0">
              <a:latin typeface="+mn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AE65A3-49C1-3A3E-5191-D6ADE2D0D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Baderia Global Institute of Engineering and Management, Jabalpur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5D5AEB-942E-1AC8-CCC8-EF25C74EE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E2A1-E1B3-408C-BD2E-03FB3FB56DDC}" type="slidenum">
              <a:rPr lang="en-IN" smtClean="0"/>
              <a:t>7</a:t>
            </a:fld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F5D755-257A-45E5-BDB1-F1E91CF7D2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6708" y="726831"/>
            <a:ext cx="6230815" cy="525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595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60585-150F-D30C-B1D5-52401C9D5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7" y="-52142"/>
            <a:ext cx="2889738" cy="573089"/>
          </a:xfrm>
        </p:spPr>
        <p:txBody>
          <a:bodyPr>
            <a:normAutofit/>
          </a:bodyPr>
          <a:lstStyle/>
          <a:p>
            <a:r>
              <a:rPr lang="en-IN" sz="2800" b="1" dirty="0"/>
              <a:t>Proposed Solution</a:t>
            </a:r>
            <a:endParaRPr lang="en-IN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C20A0-212B-7731-BBF0-E39F9571A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Baderia Global Institute of Engineering and Management, Jabalpur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20993B-0CBF-D039-9FC7-5160DDEAB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E2A1-E1B3-408C-BD2E-03FB3FB56DDC}" type="slidenum">
              <a:rPr lang="en-IN" smtClean="0"/>
              <a:t>8</a:t>
            </a:fld>
            <a:endParaRPr lang="en-IN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757D12B-C332-45BB-855B-AF068F995B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04" y="2430380"/>
            <a:ext cx="3816396" cy="346112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96344C6-C185-4993-8BF5-558309725F99}"/>
              </a:ext>
            </a:extLst>
          </p:cNvPr>
          <p:cNvSpPr txBox="1"/>
          <p:nvPr/>
        </p:nvSpPr>
        <p:spPr>
          <a:xfrm>
            <a:off x="397041" y="1098884"/>
            <a:ext cx="3641559" cy="519351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Work Flow of The System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9D03FF-84EC-4648-8F78-D6660D6F2D82}"/>
              </a:ext>
            </a:extLst>
          </p:cNvPr>
          <p:cNvSpPr txBox="1"/>
          <p:nvPr/>
        </p:nvSpPr>
        <p:spPr>
          <a:xfrm>
            <a:off x="521367" y="5975684"/>
            <a:ext cx="30600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Context Diagram Showing System Boundries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5F369D-DF9B-4807-AE47-D50C3719406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3664" y="145755"/>
            <a:ext cx="7239471" cy="6393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749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D6323D-7702-4D4F-9E11-9EDA83F19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Baderia Global Institute of Engineering and Management, Jabalpur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B6A7C0-890B-4EA0-B1ED-AC51FB1CC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E2A1-E1B3-408C-BD2E-03FB3FB56DDC}" type="slidenum">
              <a:rPr lang="en-IN" smtClean="0"/>
              <a:t>9</a:t>
            </a:fld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EC638E-1EC1-45D6-8DB3-7B3AB7CF5D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49" y="649224"/>
            <a:ext cx="12192000" cy="5559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97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6CE63-CB17-6A4D-DF3A-6C8F0A831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79" y="-140201"/>
            <a:ext cx="10515600" cy="1325563"/>
          </a:xfrm>
        </p:spPr>
        <p:txBody>
          <a:bodyPr/>
          <a:lstStyle/>
          <a:p>
            <a:r>
              <a:rPr lang="en-IN" b="1" dirty="0"/>
              <a:t>Feasibility Study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0AA517-0CDD-563A-BD73-AAE216ADB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Baderia Global Institute of Engineering and Management, Jabalpur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3257C3-45A1-2E7B-DCD7-C449DF58F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E2A1-E1B3-408C-BD2E-03FB3FB56DDC}" type="slidenum">
              <a:rPr lang="en-IN" smtClean="0"/>
              <a:t>10</a:t>
            </a:fld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8B6CC1-2484-4CCD-B386-1085357299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8221" y="844061"/>
            <a:ext cx="9044148" cy="553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036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578DFCB-3932-47F8-AB00-81466E7D0B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47" y="830745"/>
            <a:ext cx="12192000" cy="58907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8B312D-1D5D-4CC9-60C0-94B524C01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47" y="0"/>
            <a:ext cx="4788877" cy="803886"/>
          </a:xfrm>
        </p:spPr>
        <p:txBody>
          <a:bodyPr/>
          <a:lstStyle/>
          <a:p>
            <a:r>
              <a:rPr lang="en-IN" b="1" dirty="0"/>
              <a:t>Tentative Timeline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7EE6C0-F341-E009-E221-1AB420065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Baderia Global Institute of Engineering and Management, Jabalpur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857F11-CD26-D3A8-8CD1-39CE7CCD2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E2A1-E1B3-408C-BD2E-03FB3FB56DDC}" type="slidenum">
              <a:rPr lang="en-IN" smtClean="0"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4285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E9352-8AE9-5184-03ED-40F993391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37" y="459690"/>
            <a:ext cx="4708358" cy="974391"/>
          </a:xfrm>
        </p:spPr>
        <p:txBody>
          <a:bodyPr>
            <a:normAutofit/>
          </a:bodyPr>
          <a:lstStyle/>
          <a:p>
            <a:r>
              <a:rPr lang="en-IN" sz="3200" b="1" dirty="0"/>
              <a:t>Expected Outcomes: </a:t>
            </a:r>
            <a:endParaRPr lang="en-IN" sz="3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30BCA5-DB22-3D9C-C647-88C6B872F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Baderia Global Institute of Engineering and Management, Jabalpur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425EC6-49E6-7344-E61E-45623E002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E2A1-E1B3-408C-BD2E-03FB3FB56DDC}" type="slidenum">
              <a:rPr lang="en-IN" smtClean="0"/>
              <a:t>12</a:t>
            </a:fld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9AA20FD-39A7-4841-B713-CFDA77FB6C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39" y="2171117"/>
            <a:ext cx="11707445" cy="35630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C304449-FFA5-44B3-80F9-642BB4188353}"/>
              </a:ext>
            </a:extLst>
          </p:cNvPr>
          <p:cNvSpPr txBox="1"/>
          <p:nvPr/>
        </p:nvSpPr>
        <p:spPr>
          <a:xfrm>
            <a:off x="3524739" y="705444"/>
            <a:ext cx="88235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Digitization of academic project management with improved transparency, efficiency, and balanced faculty workload.</a:t>
            </a:r>
          </a:p>
        </p:txBody>
      </p:sp>
    </p:spTree>
    <p:extLst>
      <p:ext uri="{BB962C8B-B14F-4D97-AF65-F5344CB8AC3E}">
        <p14:creationId xmlns:p14="http://schemas.microsoft.com/office/powerpoint/2010/main" val="1634522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9E85EF-4B6F-0525-54F7-73E6D6783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Baderia Global Institute of Engineering and Management, Jabalpur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FCB4BB-DAE0-FB40-3729-45EADD2C0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E2A1-E1B3-408C-BD2E-03FB3FB56DDC}" type="slidenum">
              <a:rPr lang="en-IN" smtClean="0"/>
              <a:t>13</a:t>
            </a:fld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FA8422-C38C-4AE2-96F3-2B9F7E30F672}"/>
              </a:ext>
            </a:extLst>
          </p:cNvPr>
          <p:cNvSpPr txBox="1"/>
          <p:nvPr/>
        </p:nvSpPr>
        <p:spPr>
          <a:xfrm>
            <a:off x="0" y="0"/>
            <a:ext cx="12095747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REFERENCES</a:t>
            </a:r>
          </a:p>
          <a:p>
            <a:endParaRPr lang="en-US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Key references that informed the EduTrack project design:</a:t>
            </a:r>
          </a:p>
          <a:p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FFC000"/>
                </a:solidFill>
              </a:rPr>
              <a:t>RESEARCH PAPERS: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 R. Patel and S.  Mehta, "Academic Project Tracking and Evaluation: A Systematic Review of Digital Solutions," in 2022 International Conference  on Educational Technology (ICET), Singapore, 2022, pp. 45-52.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 J. Li, Y. Zhang, and H. Chen, "Cloud-Based Student Information Management System Using MERN Stack," in 2023  IEEE International Conference on Cloud Computing Technology and Science (CloudCom), Naples, Italy, 2023, pp. 89-96.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6"/>
                </a:solidFill>
              </a:rPr>
              <a:t>TECHNICAL DOCUMENTATION: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 Meta Open Source, "React Documentation - Getting Started," React, Available: https://react.dev/learn.  [Accessed: Jan. 18, 2025].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MongoDB Inc., "MongoDB Manual - Introduction to MongoDB," MongoDB Documentation, Available: https://docs.mongodb.com/manual/.  [Accessed: Jan.  12, 2025]. </a:t>
            </a:r>
          </a:p>
          <a:p>
            <a:endParaRPr lang="en-US" dirty="0"/>
          </a:p>
          <a:p>
            <a:r>
              <a:rPr lang="en-US" dirty="0">
                <a:solidFill>
                  <a:schemeClr val="accent1"/>
                </a:solidFill>
              </a:rPr>
              <a:t>BOOKS:</a:t>
            </a:r>
          </a:p>
          <a:p>
            <a:r>
              <a:rPr lang="en-US" dirty="0"/>
              <a:t>   A. Kumar and S. Sharma, MERN Stack Development: Building Modern </a:t>
            </a:r>
          </a:p>
          <a:p>
            <a:r>
              <a:rPr lang="en-US" dirty="0"/>
              <a:t>  Web Applications, 2nd ed., New Delhi: Wiley India, 2021.</a:t>
            </a:r>
          </a:p>
        </p:txBody>
      </p:sp>
    </p:spTree>
    <p:extLst>
      <p:ext uri="{BB962C8B-B14F-4D97-AF65-F5344CB8AC3E}">
        <p14:creationId xmlns:p14="http://schemas.microsoft.com/office/powerpoint/2010/main" val="1633046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1584</TotalTime>
  <Words>1073</Words>
  <Application>Microsoft Office PowerPoint</Application>
  <PresentationFormat>Widescreen</PresentationFormat>
  <Paragraphs>154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-apple-system</vt:lpstr>
      <vt:lpstr>Arial</vt:lpstr>
      <vt:lpstr>Calibri</vt:lpstr>
      <vt:lpstr>Calibri Light</vt:lpstr>
      <vt:lpstr>Wingdings</vt:lpstr>
      <vt:lpstr>Office Theme</vt:lpstr>
      <vt:lpstr>1_Office Theme</vt:lpstr>
      <vt:lpstr>PowerPoint Presentation</vt:lpstr>
      <vt:lpstr>Table of Contents</vt:lpstr>
      <vt:lpstr>PowerPoint Presentation</vt:lpstr>
      <vt:lpstr>Primary Goal : Deliver a campus-centric, role-based web application that digitizes allocation and end-to-end progress tracking of Minor/Major projects within the department.</vt:lpstr>
      <vt:lpstr>Literature Survey</vt:lpstr>
      <vt:lpstr>PowerPoint Presentation</vt:lpstr>
      <vt:lpstr>TECHNOLOGY STACK  • Frontend: React.js (v18), Tailwind CSS, React Router, Axios,    React Hook Form, Recharts (data visualization)  • Backend: Node.js (v20), Express.js, JWT (authentication), bcryptjs (password hashing), Multer (file uploads), Nodemailer (email service)  • Database: MongoDB (v7), Mongoose ODM, MongoDB Atlas (cloud hosting)  • Deployment:    - Frontend: Vercel/Netlify (free hosting)   - Backend: Render/Railway (free tier)   - Database: MongoDB Atlas (512MB free) </vt:lpstr>
      <vt:lpstr>Proposed Solution</vt:lpstr>
      <vt:lpstr>PowerPoint Presentation</vt:lpstr>
      <vt:lpstr>Feasibility Study</vt:lpstr>
      <vt:lpstr>Tentative Timeline</vt:lpstr>
      <vt:lpstr>Expected Outcomes: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Guru</cp:lastModifiedBy>
  <cp:revision>31</cp:revision>
  <dcterms:created xsi:type="dcterms:W3CDTF">2024-05-20T11:16:48Z</dcterms:created>
  <dcterms:modified xsi:type="dcterms:W3CDTF">2025-12-26T06:54:19Z</dcterms:modified>
</cp:coreProperties>
</file>